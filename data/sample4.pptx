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3457575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511" y="124375"/>
            <a:ext cx="5700974" cy="47516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7776845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199" y="1175208"/>
            <a:ext cx="5756275" cy="2093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ws.amazon.com/architecture/reference-architecture-diagrams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679" y="1879854"/>
            <a:ext cx="8179434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>
                <a:latin typeface="Arial MT"/>
                <a:cs typeface="Arial MT"/>
              </a:rPr>
              <a:t>Cloud</a:t>
            </a:r>
            <a:r>
              <a:rPr dirty="0" sz="5200" spc="-145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Intro</a:t>
            </a:r>
            <a:r>
              <a:rPr dirty="0" sz="5200" spc="-120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/</a:t>
            </a:r>
            <a:r>
              <a:rPr dirty="0" sz="5200" spc="-360">
                <a:latin typeface="Arial MT"/>
                <a:cs typeface="Arial MT"/>
              </a:rPr>
              <a:t> </a:t>
            </a:r>
            <a:r>
              <a:rPr dirty="0" sz="5200">
                <a:latin typeface="Arial MT"/>
                <a:cs typeface="Arial MT"/>
              </a:rPr>
              <a:t>AWS</a:t>
            </a:r>
            <a:r>
              <a:rPr dirty="0" sz="5200" spc="-120">
                <a:latin typeface="Arial MT"/>
                <a:cs typeface="Arial MT"/>
              </a:rPr>
              <a:t> </a:t>
            </a:r>
            <a:r>
              <a:rPr dirty="0" sz="5200" spc="-10">
                <a:latin typeface="Arial MT"/>
                <a:cs typeface="Arial MT"/>
              </a:rPr>
              <a:t>Overview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89283" y="2892926"/>
            <a:ext cx="49644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595959"/>
                </a:solidFill>
                <a:latin typeface="Arial MT"/>
                <a:cs typeface="Arial MT"/>
              </a:rPr>
              <a:t>Franky</a:t>
            </a:r>
            <a:r>
              <a:rPr dirty="0" sz="2800" spc="-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595959"/>
                </a:solidFill>
                <a:latin typeface="Arial MT"/>
                <a:cs typeface="Arial MT"/>
              </a:rPr>
              <a:t>Romero</a:t>
            </a:r>
            <a:r>
              <a:rPr dirty="0" sz="2800" spc="-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2800" spc="-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595959"/>
                </a:solidFill>
                <a:latin typeface="Arial MT"/>
                <a:cs typeface="Arial MT"/>
              </a:rPr>
              <a:t>Mark</a:t>
            </a:r>
            <a:r>
              <a:rPr dirty="0" sz="2800" spc="-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595959"/>
                </a:solidFill>
                <a:latin typeface="Arial MT"/>
                <a:cs typeface="Arial MT"/>
              </a:rPr>
              <a:t>Zhao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announcements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160838"/>
            <a:ext cx="5233670" cy="61214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  <a:tabLst>
                <a:tab pos="316865" algn="l"/>
              </a:tabLst>
            </a:pP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	Sign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Google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Form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paper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presentations</a:t>
            </a:r>
            <a:endParaRPr sz="18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340"/>
              </a:spcBef>
              <a:tabLst>
                <a:tab pos="774065" algn="l"/>
              </a:tabLst>
            </a:pP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	Need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group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next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Monday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7199" y="2397455"/>
            <a:ext cx="3607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865" algn="l"/>
              </a:tabLst>
            </a:pP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	OH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paper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projects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(by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appt?)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Review:</a:t>
            </a:r>
            <a:r>
              <a:rPr dirty="0" spc="-10"/>
              <a:t> </a:t>
            </a:r>
            <a:r>
              <a:rPr dirty="0"/>
              <a:t>What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cloud?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047355" cy="323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“On-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demand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delivery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[IT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resources]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…</a:t>
            </a:r>
            <a:r>
              <a:rPr dirty="0" sz="18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via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internet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pay-as-you-</a:t>
            </a:r>
            <a:r>
              <a:rPr dirty="0" sz="1800" spc="-25" b="1">
                <a:solidFill>
                  <a:srgbClr val="595959"/>
                </a:solidFill>
                <a:latin typeface="Arial"/>
                <a:cs typeface="Arial"/>
              </a:rPr>
              <a:t>go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pricing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.”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1525"/>
              </a:spcBef>
              <a:buChar char="-"/>
              <a:tabLst>
                <a:tab pos="469265" algn="l"/>
              </a:tabLst>
            </a:pP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On-demand</a:t>
            </a:r>
            <a:endParaRPr sz="1800">
              <a:latin typeface="Arial"/>
              <a:cs typeface="Arial"/>
            </a:endParaRPr>
          </a:p>
          <a:p>
            <a:pPr lvl="1" marL="9264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9264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Stop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guessing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capacity,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right-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demand</a:t>
            </a:r>
            <a:endParaRPr sz="1400">
              <a:latin typeface="Arial MT"/>
              <a:cs typeface="Arial MT"/>
            </a:endParaRPr>
          </a:p>
          <a:p>
            <a:pPr lvl="1" marL="926465" indent="-287655">
              <a:lnSpc>
                <a:spcPct val="100000"/>
              </a:lnSpc>
              <a:spcBef>
                <a:spcPts val="250"/>
              </a:spcBef>
              <a:buChar char="-"/>
              <a:tabLst>
                <a:tab pos="9264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Agility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adopt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resources/advancements</a:t>
            </a:r>
            <a:endParaRPr sz="14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235"/>
              </a:spcBef>
              <a:buChar char="-"/>
              <a:tabLst>
                <a:tab pos="469265" algn="l"/>
              </a:tabLst>
            </a:pP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Via</a:t>
            </a:r>
            <a:r>
              <a:rPr dirty="0" sz="1800" spc="-3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3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internet</a:t>
            </a:r>
            <a:endParaRPr sz="1800">
              <a:latin typeface="Arial"/>
              <a:cs typeface="Arial"/>
            </a:endParaRPr>
          </a:p>
          <a:p>
            <a:pPr lvl="1" marL="9264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9264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Avoid</a:t>
            </a:r>
            <a:r>
              <a:rPr dirty="0" sz="14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direct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datacenter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costs</a:t>
            </a:r>
            <a:endParaRPr sz="1400">
              <a:latin typeface="Arial MT"/>
              <a:cs typeface="Arial MT"/>
            </a:endParaRPr>
          </a:p>
          <a:p>
            <a:pPr lvl="1" marL="926465" indent="-287655">
              <a:lnSpc>
                <a:spcPct val="100000"/>
              </a:lnSpc>
              <a:spcBef>
                <a:spcPts val="250"/>
              </a:spcBef>
              <a:buChar char="-"/>
              <a:tabLst>
                <a:tab pos="9264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Global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deployment</a:t>
            </a:r>
            <a:endParaRPr sz="14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240"/>
              </a:spcBef>
              <a:buChar char="-"/>
              <a:tabLst>
                <a:tab pos="469265" algn="l"/>
              </a:tabLst>
            </a:pP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Pay-as-you-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go</a:t>
            </a:r>
            <a:r>
              <a:rPr dirty="0" sz="1800" spc="4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pricing</a:t>
            </a:r>
            <a:endParaRPr sz="1800">
              <a:latin typeface="Arial"/>
              <a:cs typeface="Arial"/>
            </a:endParaRPr>
          </a:p>
          <a:p>
            <a:pPr lvl="1" marL="9264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9264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Fixed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expense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&gt;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expense</a:t>
            </a:r>
            <a:endParaRPr sz="1400">
              <a:latin typeface="Arial MT"/>
              <a:cs typeface="Arial MT"/>
            </a:endParaRPr>
          </a:p>
          <a:p>
            <a:pPr lvl="1" marL="926465" indent="-287655">
              <a:lnSpc>
                <a:spcPct val="100000"/>
              </a:lnSpc>
              <a:spcBef>
                <a:spcPts val="250"/>
              </a:spcBef>
              <a:buChar char="-"/>
              <a:tabLst>
                <a:tab pos="9264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Economies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Cloud</a:t>
            </a:r>
            <a:r>
              <a:rPr dirty="0" spc="5"/>
              <a:t> </a:t>
            </a:r>
            <a:r>
              <a:rPr dirty="0"/>
              <a:t>Service</a:t>
            </a:r>
            <a:r>
              <a:rPr dirty="0" spc="10"/>
              <a:t> </a:t>
            </a:r>
            <a:r>
              <a:rPr dirty="0" spc="-10"/>
              <a:t>Providers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8004809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Who’s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cloud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service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before?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similarities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differences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across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providers?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2188" y="1975149"/>
            <a:ext cx="4179616" cy="29380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What is</a:t>
            </a:r>
            <a:r>
              <a:rPr dirty="0" spc="-140"/>
              <a:t> </a:t>
            </a:r>
            <a:r>
              <a:rPr dirty="0" spc="-20"/>
              <a:t>AWS?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216355"/>
            <a:ext cx="4339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865" algn="l"/>
              </a:tabLst>
            </a:pP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	Provides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suite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cloud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(200+)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250" y="1745959"/>
            <a:ext cx="3383904" cy="268946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7175" y="4544162"/>
            <a:ext cx="22860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Question: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service?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Review:</a:t>
            </a:r>
            <a:r>
              <a:rPr dirty="0" spc="-10"/>
              <a:t> </a:t>
            </a:r>
            <a:r>
              <a:rPr dirty="0"/>
              <a:t>Cloud</a:t>
            </a:r>
            <a:r>
              <a:rPr dirty="0" spc="-5"/>
              <a:t> </a:t>
            </a:r>
            <a:r>
              <a:rPr dirty="0"/>
              <a:t>Service</a:t>
            </a:r>
            <a:r>
              <a:rPr dirty="0" spc="-45"/>
              <a:t> </a:t>
            </a:r>
            <a:r>
              <a:rPr dirty="0" spc="-10"/>
              <a:t>Types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067179"/>
            <a:ext cx="7324090" cy="320675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Cloud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computing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models: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IaaS,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PaaS,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595959"/>
                </a:solidFill>
                <a:latin typeface="Arial MT"/>
                <a:cs typeface="Arial MT"/>
              </a:rPr>
              <a:t>SaaS</a:t>
            </a:r>
            <a:endParaRPr sz="1650">
              <a:latin typeface="Arial MT"/>
              <a:cs typeface="Arial MT"/>
            </a:endParaRPr>
          </a:p>
          <a:p>
            <a:pPr marL="469265" indent="-298450">
              <a:lnSpc>
                <a:spcPts val="1945"/>
              </a:lnSpc>
              <a:spcBef>
                <a:spcPts val="1115"/>
              </a:spcBef>
              <a:buChar char="-"/>
              <a:tabLst>
                <a:tab pos="469265" algn="l"/>
              </a:tabLst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Infrastructure</a:t>
            </a:r>
            <a:r>
              <a:rPr dirty="0" sz="165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65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 Service</a:t>
            </a:r>
            <a:endParaRPr sz="1650">
              <a:latin typeface="Arial MT"/>
              <a:cs typeface="Arial MT"/>
            </a:endParaRPr>
          </a:p>
          <a:p>
            <a:pPr lvl="1" marL="926465" indent="-283210">
              <a:lnSpc>
                <a:spcPts val="1485"/>
              </a:lnSpc>
              <a:buChar char="-"/>
              <a:tabLst>
                <a:tab pos="926465" algn="l"/>
              </a:tabLst>
            </a:pP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Basic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infrastructure</a:t>
            </a:r>
            <a:r>
              <a:rPr dirty="0" sz="13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building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blocks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(VMs,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networking,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storage)</a:t>
            </a:r>
            <a:endParaRPr sz="1300">
              <a:latin typeface="Arial MT"/>
              <a:cs typeface="Arial MT"/>
            </a:endParaRPr>
          </a:p>
          <a:p>
            <a:pPr lvl="1" marL="926465" indent="-283210">
              <a:lnSpc>
                <a:spcPts val="1470"/>
              </a:lnSpc>
              <a:buChar char="-"/>
              <a:tabLst>
                <a:tab pos="926465" algn="l"/>
              </a:tabLst>
            </a:pP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AWS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Arial MT"/>
                <a:cs typeface="Arial MT"/>
              </a:rPr>
              <a:t>EC2</a:t>
            </a:r>
            <a:endParaRPr sz="1300">
              <a:latin typeface="Arial MT"/>
              <a:cs typeface="Arial MT"/>
            </a:endParaRPr>
          </a:p>
          <a:p>
            <a:pPr marL="469265" indent="-298450">
              <a:lnSpc>
                <a:spcPts val="1895"/>
              </a:lnSpc>
              <a:buChar char="-"/>
              <a:tabLst>
                <a:tab pos="469265" algn="l"/>
              </a:tabLst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Platform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650" spc="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650" spc="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Service</a:t>
            </a:r>
            <a:endParaRPr sz="1650">
              <a:latin typeface="Arial MT"/>
              <a:cs typeface="Arial MT"/>
            </a:endParaRPr>
          </a:p>
          <a:p>
            <a:pPr lvl="1" marL="926465" indent="-283210">
              <a:lnSpc>
                <a:spcPts val="1485"/>
              </a:lnSpc>
              <a:buChar char="-"/>
              <a:tabLst>
                <a:tab pos="926465" algn="l"/>
              </a:tabLst>
            </a:pP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Automatically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manages</a:t>
            </a:r>
            <a:r>
              <a:rPr dirty="0" sz="13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underlying</a:t>
            </a:r>
            <a:r>
              <a:rPr dirty="0" sz="13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infrastructure</a:t>
            </a:r>
            <a:r>
              <a:rPr dirty="0" sz="13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(capacity,</a:t>
            </a:r>
            <a:r>
              <a:rPr dirty="0" sz="13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load</a:t>
            </a:r>
            <a:r>
              <a:rPr dirty="0" sz="13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balancing,</a:t>
            </a:r>
            <a:r>
              <a:rPr dirty="0" sz="13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auto-scaling)</a:t>
            </a:r>
            <a:endParaRPr sz="1300">
              <a:latin typeface="Arial MT"/>
              <a:cs typeface="Arial MT"/>
            </a:endParaRPr>
          </a:p>
          <a:p>
            <a:pPr lvl="1" marL="926465" indent="-283210">
              <a:lnSpc>
                <a:spcPts val="1470"/>
              </a:lnSpc>
              <a:buChar char="-"/>
              <a:tabLst>
                <a:tab pos="926465" algn="l"/>
              </a:tabLst>
            </a:pP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AWS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3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Elastic</a:t>
            </a:r>
            <a:r>
              <a:rPr dirty="0" sz="13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Beanstalk</a:t>
            </a:r>
            <a:endParaRPr sz="1300">
              <a:latin typeface="Arial MT"/>
              <a:cs typeface="Arial MT"/>
            </a:endParaRPr>
          </a:p>
          <a:p>
            <a:pPr marL="469265" indent="-298450">
              <a:lnSpc>
                <a:spcPts val="1895"/>
              </a:lnSpc>
              <a:buChar char="-"/>
              <a:tabLst>
                <a:tab pos="469265" algn="l"/>
              </a:tabLst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Software</a:t>
            </a:r>
            <a:r>
              <a:rPr dirty="0" sz="165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65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Service</a:t>
            </a:r>
            <a:endParaRPr sz="1650">
              <a:latin typeface="Arial MT"/>
              <a:cs typeface="Arial MT"/>
            </a:endParaRPr>
          </a:p>
          <a:p>
            <a:pPr lvl="1" marL="926465" indent="-283210">
              <a:lnSpc>
                <a:spcPts val="1485"/>
              </a:lnSpc>
              <a:buChar char="-"/>
              <a:tabLst>
                <a:tab pos="926465" algn="l"/>
              </a:tabLst>
            </a:pP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Complete</a:t>
            </a:r>
            <a:r>
              <a:rPr dirty="0" sz="13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product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managed</a:t>
            </a:r>
            <a:r>
              <a:rPr dirty="0" sz="13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service</a:t>
            </a:r>
            <a:r>
              <a:rPr dirty="0" sz="13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provider</a:t>
            </a:r>
            <a:endParaRPr sz="1300">
              <a:latin typeface="Arial MT"/>
              <a:cs typeface="Arial MT"/>
            </a:endParaRPr>
          </a:p>
          <a:p>
            <a:pPr lvl="1" marL="926465" indent="-283210">
              <a:lnSpc>
                <a:spcPts val="1520"/>
              </a:lnSpc>
              <a:buChar char="-"/>
              <a:tabLst>
                <a:tab pos="926465" algn="l"/>
              </a:tabLst>
            </a:pPr>
            <a:r>
              <a:rPr dirty="0" sz="1300">
                <a:solidFill>
                  <a:srgbClr val="595959"/>
                </a:solidFill>
                <a:latin typeface="Arial MT"/>
                <a:cs typeface="Arial MT"/>
              </a:rPr>
              <a:t>AWS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3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Arial MT"/>
                <a:cs typeface="Arial MT"/>
              </a:rPr>
              <a:t>Rekognition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3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Question: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does</a:t>
            </a:r>
            <a:r>
              <a:rPr dirty="0" sz="1650" spc="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Serverless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595959"/>
                </a:solidFill>
                <a:latin typeface="Arial MT"/>
                <a:cs typeface="Arial MT"/>
              </a:rPr>
              <a:t>fall</a:t>
            </a:r>
            <a:r>
              <a:rPr dirty="0" sz="1650" spc="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595959"/>
                </a:solidFill>
                <a:latin typeface="Arial MT"/>
                <a:cs typeface="Arial MT"/>
              </a:rPr>
              <a:t>under?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AWS</a:t>
            </a:r>
            <a:r>
              <a:rPr dirty="0" spc="-90"/>
              <a:t> </a:t>
            </a:r>
            <a:r>
              <a:rPr dirty="0" spc="-10"/>
              <a:t>Services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7300" y="1017724"/>
            <a:ext cx="4229398" cy="310547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150" y="4612463"/>
            <a:ext cx="53200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Question: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What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you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think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most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important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AWS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services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are?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Let’s</a:t>
            </a:r>
            <a:r>
              <a:rPr dirty="0" spc="-20"/>
              <a:t> </a:t>
            </a:r>
            <a:r>
              <a:rPr dirty="0"/>
              <a:t>build</a:t>
            </a:r>
            <a:r>
              <a:rPr dirty="0" spc="-15"/>
              <a:t> </a:t>
            </a:r>
            <a:r>
              <a:rPr dirty="0" spc="-10"/>
              <a:t>Moodle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1863" y="1079200"/>
            <a:ext cx="6260284" cy="38209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Let’s</a:t>
            </a:r>
            <a:r>
              <a:rPr dirty="0" spc="-20"/>
              <a:t> </a:t>
            </a:r>
            <a:r>
              <a:rPr dirty="0"/>
              <a:t>build</a:t>
            </a:r>
            <a:r>
              <a:rPr dirty="0" spc="-20"/>
              <a:t> </a:t>
            </a:r>
            <a:r>
              <a:rPr dirty="0"/>
              <a:t>Moodle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5"/>
              <a:t> </a:t>
            </a:r>
            <a:r>
              <a:rPr dirty="0" spc="-25"/>
              <a:t>AWS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216355"/>
            <a:ext cx="8140700" cy="31851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16865" marR="5080" indent="-304800">
              <a:lnSpc>
                <a:spcPts val="2270"/>
              </a:lnSpc>
              <a:spcBef>
                <a:spcPts val="8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types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“myschool.edu/myclass”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logs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course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page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watch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latest lecture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25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DNS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resolution:</a:t>
            </a:r>
            <a:r>
              <a:rPr dirty="0" sz="1400" spc="-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Route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53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85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Load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balancer:</a:t>
            </a:r>
            <a:r>
              <a:rPr dirty="0" sz="1400" spc="-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Application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Load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Balancer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85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Secure</a:t>
            </a:r>
            <a:r>
              <a:rPr dirty="0" sz="140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communication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(SSL):</a:t>
            </a:r>
            <a:r>
              <a:rPr dirty="0" sz="1400" spc="-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AWS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Certificate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Manager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8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Web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Server:</a:t>
            </a:r>
            <a:r>
              <a:rPr dirty="0" sz="1400" spc="-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EC2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85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Content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Distribution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Network:</a:t>
            </a:r>
            <a:r>
              <a:rPr dirty="0" sz="1400" spc="-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CloudFront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7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uploads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discussion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post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125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Storage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system:</a:t>
            </a:r>
            <a:r>
              <a:rPr dirty="0" sz="1400" spc="-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EFS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S3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8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Session/application</a:t>
            </a: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cache:</a:t>
            </a:r>
            <a:r>
              <a:rPr dirty="0" sz="1400" spc="-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ElastiCache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85"/>
              </a:spcBef>
              <a:buChar char="-"/>
              <a:tabLst>
                <a:tab pos="774065" algn="l"/>
              </a:tabLst>
            </a:pP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Database:</a:t>
            </a:r>
            <a:r>
              <a:rPr dirty="0" sz="1400" spc="-7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Amazon</a:t>
            </a:r>
            <a:r>
              <a:rPr dirty="0" sz="1400" spc="-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Aurora</a:t>
            </a:r>
            <a:r>
              <a:rPr dirty="0" sz="1400" spc="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40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DynamoDB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7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Developer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updates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website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125"/>
              </a:spcBef>
              <a:buChar char="-"/>
              <a:tabLst>
                <a:tab pos="774065" algn="l"/>
              </a:tabLst>
            </a:pP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CodeCommit-&gt;CodeBuild-&gt;CodeDeploy-&gt;CodePipeline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2250" y="4903587"/>
            <a:ext cx="43268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https://aws.amazon.com/architecture/reference-architecture-</a:t>
            </a:r>
            <a:r>
              <a:rPr dirty="0" u="sng" sz="1100" spc="-1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diagrams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Microservices</a:t>
            </a:r>
            <a:r>
              <a:rPr dirty="0" spc="-140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175208"/>
            <a:ext cx="4321175" cy="1403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marR="313690" indent="-304800">
              <a:lnSpc>
                <a:spcPct val="114999"/>
              </a:lnSpc>
              <a:spcBef>
                <a:spcPts val="100"/>
              </a:spcBef>
              <a:tabLst>
                <a:tab pos="316865" algn="l"/>
              </a:tabLst>
            </a:pP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	What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monolithic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microservice architecture?</a:t>
            </a:r>
            <a:endParaRPr sz="1800">
              <a:latin typeface="Arial MT"/>
              <a:cs typeface="Arial MT"/>
            </a:endParaRPr>
          </a:p>
          <a:p>
            <a:pPr marL="774065" marR="5080" indent="-288290">
              <a:lnSpc>
                <a:spcPct val="114999"/>
              </a:lnSpc>
              <a:spcBef>
                <a:spcPts val="85"/>
              </a:spcBef>
              <a:tabLst>
                <a:tab pos="774065" algn="l"/>
              </a:tabLst>
            </a:pP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Microservice:</a:t>
            </a:r>
            <a:r>
              <a:rPr dirty="0" sz="1400" spc="-9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Application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composed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small, independently-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scalable</a:t>
            </a:r>
            <a:r>
              <a:rPr dirty="0" sz="1400" spc="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services</a:t>
            </a:r>
            <a:r>
              <a:rPr dirty="0" sz="1400" spc="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that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communicate over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well-defined</a:t>
            </a:r>
            <a:r>
              <a:rPr dirty="0" sz="1400" spc="-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APIs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725" y="3162503"/>
            <a:ext cx="3490595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Question: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benefits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microservice</a:t>
            </a: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architectures?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0113" y="1455713"/>
            <a:ext cx="3343095" cy="28099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Quality-of-</a:t>
            </a:r>
            <a:r>
              <a:rPr dirty="0"/>
              <a:t>service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5"/>
              <a:t> </a:t>
            </a:r>
            <a:r>
              <a:rPr dirty="0"/>
              <a:t>microservice</a:t>
            </a:r>
            <a:r>
              <a:rPr dirty="0" spc="-5"/>
              <a:t> </a:t>
            </a:r>
            <a:r>
              <a:rPr dirty="0" spc="-10"/>
              <a:t>architectures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6355"/>
            <a:ext cx="4560570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drawbacks?</a:t>
            </a:r>
            <a:endParaRPr sz="1800">
              <a:latin typeface="Arial MT"/>
              <a:cs typeface="Arial MT"/>
            </a:endParaRPr>
          </a:p>
          <a:p>
            <a:pPr marL="469900" marR="5080" indent="-304800">
              <a:lnSpc>
                <a:spcPct val="114999"/>
              </a:lnSpc>
              <a:spcBef>
                <a:spcPts val="1200"/>
              </a:spcBef>
              <a:buChar char="-"/>
              <a:tabLst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service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has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dependencies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(high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fan-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out)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tail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latency?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686" y="3075522"/>
            <a:ext cx="3141981" cy="189463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5000" y="2682175"/>
            <a:ext cx="3299509" cy="2389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Quality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Service</a:t>
            </a:r>
            <a:r>
              <a:rPr dirty="0" spc="-10"/>
              <a:t> 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175208"/>
            <a:ext cx="5193665" cy="195326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2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measure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“success”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service?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SLOs: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Latency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254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Uptime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(9s)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25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Recovery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point/recovery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time</a:t>
            </a:r>
            <a:endParaRPr sz="1400">
              <a:latin typeface="Arial MT"/>
              <a:cs typeface="Arial MT"/>
            </a:endParaRPr>
          </a:p>
          <a:p>
            <a:pPr marL="486409">
              <a:lnSpc>
                <a:spcPct val="100000"/>
              </a:lnSpc>
              <a:spcBef>
                <a:spcPts val="250"/>
              </a:spcBef>
              <a:tabLst>
                <a:tab pos="774065" algn="l"/>
              </a:tabLst>
            </a:pP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316865" algn="l"/>
              </a:tabLst>
            </a:pP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How</a:t>
            </a:r>
            <a:r>
              <a:rPr dirty="0" spc="20"/>
              <a:t> </a:t>
            </a:r>
            <a:r>
              <a:rPr dirty="0"/>
              <a:t>do</a:t>
            </a:r>
            <a:r>
              <a:rPr dirty="0" spc="20"/>
              <a:t> </a:t>
            </a:r>
            <a:r>
              <a:rPr dirty="0"/>
              <a:t>we</a:t>
            </a:r>
            <a:r>
              <a:rPr dirty="0" spc="20"/>
              <a:t> </a:t>
            </a:r>
            <a:r>
              <a:rPr dirty="0"/>
              <a:t>build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10"/>
              <a:t>“Well-</a:t>
            </a:r>
            <a:r>
              <a:rPr dirty="0"/>
              <a:t>Architected”</a:t>
            </a:r>
            <a:r>
              <a:rPr dirty="0" spc="20"/>
              <a:t> </a:t>
            </a:r>
            <a:r>
              <a:rPr dirty="0"/>
              <a:t>system</a:t>
            </a:r>
            <a:r>
              <a:rPr dirty="0" spc="20"/>
              <a:t> </a:t>
            </a:r>
            <a:r>
              <a:rPr dirty="0"/>
              <a:t>on</a:t>
            </a:r>
            <a:r>
              <a:rPr dirty="0" spc="-125"/>
              <a:t> </a:t>
            </a:r>
            <a:r>
              <a:rPr dirty="0" spc="-20"/>
              <a:t>AWS?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216355"/>
            <a:ext cx="2807335" cy="2345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Centered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around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six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pillars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15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Operational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excellence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0"/>
              </a:spcBef>
              <a:buChar char="-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Reliability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efficiency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Cost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optimization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Sustainability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Operational</a:t>
            </a:r>
            <a:r>
              <a:rPr dirty="0" spc="-50"/>
              <a:t> </a:t>
            </a:r>
            <a:r>
              <a:rPr dirty="0" spc="-10"/>
              <a:t>Excellence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160838"/>
            <a:ext cx="4493895" cy="26098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53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Perform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operations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code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commit/review</a:t>
            </a: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config</a:t>
            </a:r>
            <a:r>
              <a:rPr dirty="0" sz="14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files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3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Make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frequent,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small,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reversible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changes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small,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reviewable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commits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4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Refine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operations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procedures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frequently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32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Anticipate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failure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“storms”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“game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days”,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pre-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mortems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4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Learn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operational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failures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post-mortems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interesting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ones?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Security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160838"/>
            <a:ext cx="4203065" cy="273939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53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Implement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strong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identity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foundation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principle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least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privilege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3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Enable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traceability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monitor/alerting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4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Apply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layers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32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Automate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best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practices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Protect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transit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rest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people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away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Prepare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security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events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Reliability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175208"/>
            <a:ext cx="7327265" cy="300672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69265" indent="-304165">
              <a:lnSpc>
                <a:spcPct val="100000"/>
              </a:lnSpc>
              <a:spcBef>
                <a:spcPts val="420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Automatically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recover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failure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Test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recovery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procedures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horizontality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increase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aggregate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workload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availability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Stop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guessing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capacity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Manage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change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automation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Clr>
                <a:srgbClr val="595959"/>
              </a:buClr>
              <a:buFont typeface="Arial MT"/>
              <a:buChar char="-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Questions:</a:t>
            </a:r>
            <a:endParaRPr sz="1800">
              <a:latin typeface="Arial MT"/>
              <a:cs typeface="Arial MT"/>
            </a:endParaRPr>
          </a:p>
          <a:p>
            <a:pPr marL="469265" indent="-304165">
              <a:lnSpc>
                <a:spcPct val="100000"/>
              </a:lnSpc>
              <a:spcBef>
                <a:spcPts val="1525"/>
              </a:spcBef>
              <a:buChar char="-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design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patterns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help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service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reliability?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Performance</a:t>
            </a:r>
            <a:r>
              <a:rPr dirty="0" spc="-50"/>
              <a:t> </a:t>
            </a:r>
            <a:r>
              <a:rPr dirty="0" spc="-10"/>
              <a:t>Efficiency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20"/>
              </a:spcBef>
              <a:buChar char="-"/>
              <a:tabLst>
                <a:tab pos="316865" algn="l"/>
              </a:tabLst>
            </a:pPr>
            <a:r>
              <a:rPr dirty="0"/>
              <a:t>Democratize</a:t>
            </a:r>
            <a:r>
              <a:rPr dirty="0" spc="-50"/>
              <a:t> </a:t>
            </a:r>
            <a:r>
              <a:rPr dirty="0"/>
              <a:t>advanced</a:t>
            </a:r>
            <a:r>
              <a:rPr dirty="0" spc="-45"/>
              <a:t> </a:t>
            </a:r>
            <a:r>
              <a:rPr dirty="0" spc="-10"/>
              <a:t>technologies</a:t>
            </a: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/>
              <a:t>Go</a:t>
            </a:r>
            <a:r>
              <a:rPr dirty="0" spc="-20"/>
              <a:t> </a:t>
            </a:r>
            <a:r>
              <a:rPr dirty="0"/>
              <a:t>global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minutes</a:t>
            </a: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Why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distribute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workloads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across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global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regions?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35"/>
              </a:spcBef>
              <a:buChar char="-"/>
              <a:tabLst>
                <a:tab pos="316865" algn="l"/>
              </a:tabLst>
            </a:pPr>
            <a:r>
              <a:rPr dirty="0"/>
              <a:t>Use</a:t>
            </a:r>
            <a:r>
              <a:rPr dirty="0" spc="-20"/>
              <a:t> </a:t>
            </a:r>
            <a:r>
              <a:rPr dirty="0"/>
              <a:t>serverless</a:t>
            </a:r>
            <a:r>
              <a:rPr dirty="0" spc="-10"/>
              <a:t> architectures</a:t>
            </a:r>
          </a:p>
          <a:p>
            <a:pPr lvl="1" marL="774065" indent="-287655">
              <a:lnSpc>
                <a:spcPct val="100000"/>
              </a:lnSpc>
              <a:spcBef>
                <a:spcPts val="340"/>
              </a:spcBef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Q: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When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serverless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*not*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efficient/performant?</a:t>
            </a:r>
            <a:endParaRPr sz="14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240"/>
              </a:spcBef>
              <a:buChar char="-"/>
              <a:tabLst>
                <a:tab pos="316865" algn="l"/>
              </a:tabLst>
            </a:pPr>
            <a:r>
              <a:rPr dirty="0"/>
              <a:t>Experiment</a:t>
            </a:r>
            <a:r>
              <a:rPr dirty="0" spc="-35"/>
              <a:t> </a:t>
            </a:r>
            <a:r>
              <a:rPr dirty="0"/>
              <a:t>more</a:t>
            </a:r>
            <a:r>
              <a:rPr dirty="0" spc="-35"/>
              <a:t> </a:t>
            </a:r>
            <a:r>
              <a:rPr dirty="0" spc="-10"/>
              <a:t>often</a:t>
            </a:r>
          </a:p>
          <a:p>
            <a:pPr marL="316865" indent="-304165">
              <a:lnSpc>
                <a:spcPct val="100000"/>
              </a:lnSpc>
              <a:spcBef>
                <a:spcPts val="320"/>
              </a:spcBef>
              <a:buChar char="-"/>
              <a:tabLst>
                <a:tab pos="316865" algn="l"/>
              </a:tabLst>
            </a:pPr>
            <a:r>
              <a:rPr dirty="0"/>
              <a:t>Consider</a:t>
            </a:r>
            <a:r>
              <a:rPr dirty="0" spc="-30"/>
              <a:t> </a:t>
            </a:r>
            <a:r>
              <a:rPr dirty="0"/>
              <a:t>mechanical</a:t>
            </a:r>
            <a:r>
              <a:rPr dirty="0" spc="-25"/>
              <a:t> </a:t>
            </a:r>
            <a:r>
              <a:rPr dirty="0" spc="-10"/>
              <a:t>sympathy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Cost</a:t>
            </a:r>
            <a:r>
              <a:rPr dirty="0" spc="-15"/>
              <a:t> </a:t>
            </a:r>
            <a:r>
              <a:rPr dirty="0" spc="-10"/>
              <a:t>Optimization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420"/>
              </a:spcBef>
              <a:buChar char="-"/>
              <a:tabLst>
                <a:tab pos="316865" algn="l"/>
              </a:tabLst>
            </a:pPr>
            <a:r>
              <a:rPr dirty="0"/>
              <a:t>Implement</a:t>
            </a:r>
            <a:r>
              <a:rPr dirty="0" spc="-40"/>
              <a:t> </a:t>
            </a:r>
            <a:r>
              <a:rPr dirty="0"/>
              <a:t>cloud</a:t>
            </a:r>
            <a:r>
              <a:rPr dirty="0" spc="-40"/>
              <a:t> </a:t>
            </a:r>
            <a:r>
              <a:rPr dirty="0"/>
              <a:t>financial</a:t>
            </a:r>
            <a:r>
              <a:rPr dirty="0" spc="-35"/>
              <a:t> </a:t>
            </a:r>
            <a:r>
              <a:rPr dirty="0" spc="-10"/>
              <a:t>management</a:t>
            </a: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/>
              <a:t>Adopt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consumption</a:t>
            </a:r>
            <a:r>
              <a:rPr dirty="0" spc="-25"/>
              <a:t> </a:t>
            </a:r>
            <a:r>
              <a:rPr dirty="0" spc="-10"/>
              <a:t>model</a:t>
            </a: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/>
              <a:t>Measure</a:t>
            </a:r>
            <a:r>
              <a:rPr dirty="0" spc="-35"/>
              <a:t> </a:t>
            </a:r>
            <a:r>
              <a:rPr dirty="0"/>
              <a:t>overall</a:t>
            </a:r>
            <a:r>
              <a:rPr dirty="0" spc="-35"/>
              <a:t> </a:t>
            </a:r>
            <a:r>
              <a:rPr dirty="0" spc="-10"/>
              <a:t>efficiency</a:t>
            </a: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/>
              <a:t>Stop</a:t>
            </a:r>
            <a:r>
              <a:rPr dirty="0" spc="-45"/>
              <a:t> </a:t>
            </a:r>
            <a:r>
              <a:rPr dirty="0"/>
              <a:t>spending</a:t>
            </a:r>
            <a:r>
              <a:rPr dirty="0" spc="-30"/>
              <a:t> </a:t>
            </a:r>
            <a:r>
              <a:rPr dirty="0"/>
              <a:t>money</a:t>
            </a:r>
            <a:r>
              <a:rPr dirty="0" spc="-3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/>
              <a:t>undifferentiated</a:t>
            </a:r>
            <a:r>
              <a:rPr dirty="0" spc="-30"/>
              <a:t> </a:t>
            </a:r>
            <a:r>
              <a:rPr dirty="0"/>
              <a:t>heavy</a:t>
            </a:r>
            <a:r>
              <a:rPr dirty="0" spc="-30"/>
              <a:t> </a:t>
            </a:r>
            <a:r>
              <a:rPr dirty="0" spc="-10"/>
              <a:t>lifting</a:t>
            </a:r>
          </a:p>
          <a:p>
            <a:pPr marL="316865" indent="-304165">
              <a:lnSpc>
                <a:spcPct val="100000"/>
              </a:lnSpc>
              <a:spcBef>
                <a:spcPts val="325"/>
              </a:spcBef>
              <a:buChar char="-"/>
              <a:tabLst>
                <a:tab pos="316865" algn="l"/>
              </a:tabLst>
            </a:pPr>
            <a:r>
              <a:rPr dirty="0"/>
              <a:t>Analyze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attribute</a:t>
            </a:r>
            <a:r>
              <a:rPr dirty="0" spc="-30"/>
              <a:t> </a:t>
            </a:r>
            <a:r>
              <a:rPr dirty="0" spc="-10"/>
              <a:t>expenditure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0"/>
              <a:t>Sustainability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11349" y="1991665"/>
            <a:ext cx="21513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355" algn="l"/>
              </a:tabLst>
            </a:pP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Energy-proportionality?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11349" y="2454961"/>
            <a:ext cx="3691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355" algn="l"/>
              </a:tabLst>
            </a:pP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	Embodied</a:t>
            </a:r>
            <a:r>
              <a:rPr dirty="0" sz="14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Operational</a:t>
            </a:r>
            <a:r>
              <a:rPr dirty="0" sz="14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carbon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footprint?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11349" y="2918257"/>
            <a:ext cx="16668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355" algn="l"/>
              </a:tabLst>
            </a:pPr>
            <a:r>
              <a:rPr dirty="0" sz="1400" spc="-5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	Benefits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PUE?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7199" y="1205383"/>
            <a:ext cx="7698740" cy="221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304165">
              <a:lnSpc>
                <a:spcPts val="2105"/>
              </a:lnSpc>
              <a:spcBef>
                <a:spcPts val="10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Understand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your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impact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ts val="2050"/>
              </a:lnSpc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Establish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sustainability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goals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ts val="2105"/>
              </a:lnSpc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Maximize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utilization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48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Anticipate</a:t>
            </a:r>
            <a:r>
              <a:rPr dirty="0" sz="18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adopt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new,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more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efficient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hardware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software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offerings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49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managed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49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Reduce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downstream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impact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cloud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workloads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4725" y="3942487"/>
            <a:ext cx="7683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methods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improve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sustainability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cloud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workloads?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Discussion</a:t>
            </a:r>
            <a:r>
              <a:rPr dirty="0" spc="75"/>
              <a:t> </a:t>
            </a:r>
            <a:r>
              <a:rPr dirty="0" spc="-10"/>
              <a:t>Questions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7199" y="1205383"/>
            <a:ext cx="8126095" cy="305054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16865" marR="34290" indent="-304800">
              <a:lnSpc>
                <a:spcPts val="2050"/>
              </a:lnSpc>
              <a:spcBef>
                <a:spcPts val="260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surprising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services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offered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AWS?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Were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there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think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should/shouldn’t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offered?</a:t>
            </a:r>
            <a:endParaRPr sz="1800">
              <a:latin typeface="Arial MT"/>
              <a:cs typeface="Arial MT"/>
            </a:endParaRPr>
          </a:p>
          <a:p>
            <a:pPr marL="316865" marR="500380" indent="-304800">
              <a:lnSpc>
                <a:spcPts val="2050"/>
              </a:lnSpc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pros/cons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building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systems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top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IaaS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PaaS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vs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SaaS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solutions?</a:t>
            </a:r>
            <a:endParaRPr sz="1800">
              <a:latin typeface="Arial MT"/>
              <a:cs typeface="Arial MT"/>
            </a:endParaRPr>
          </a:p>
          <a:p>
            <a:pPr lvl="1" marL="774065" indent="-287655">
              <a:lnSpc>
                <a:spcPts val="1515"/>
              </a:lnSpc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e.g.,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deploying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ML</a:t>
            </a:r>
            <a:r>
              <a:rPr dirty="0" sz="1400" spc="-6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app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top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SageMaker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EC2</a:t>
            </a:r>
            <a:r>
              <a:rPr dirty="0" sz="14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vs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Lamba?</a:t>
            </a:r>
            <a:endParaRPr sz="1400">
              <a:latin typeface="Arial MT"/>
              <a:cs typeface="Arial MT"/>
            </a:endParaRPr>
          </a:p>
          <a:p>
            <a:pPr lvl="1" marL="774065" indent="-287655">
              <a:lnSpc>
                <a:spcPts val="1580"/>
              </a:lnSpc>
              <a:buChar char="-"/>
              <a:tabLst>
                <a:tab pos="77406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does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cost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factor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into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this?</a:t>
            </a:r>
            <a:endParaRPr sz="1400">
              <a:latin typeface="Arial MT"/>
              <a:cs typeface="Arial MT"/>
            </a:endParaRPr>
          </a:p>
          <a:p>
            <a:pPr marL="316865" marR="262890" indent="-304800">
              <a:lnSpc>
                <a:spcPts val="2050"/>
              </a:lnSpc>
              <a:spcBef>
                <a:spcPts val="105"/>
              </a:spcBef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pros/cons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dirty="0" sz="1800" spc="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i="1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provider’s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services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versus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building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yourself?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decide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this?</a:t>
            </a:r>
            <a:endParaRPr sz="1800">
              <a:latin typeface="Arial MT"/>
              <a:cs typeface="Arial MT"/>
            </a:endParaRPr>
          </a:p>
          <a:p>
            <a:pPr marL="316865" marR="5080" indent="-304800">
              <a:lnSpc>
                <a:spcPts val="2050"/>
              </a:lnSpc>
              <a:buChar char="-"/>
              <a:tabLst>
                <a:tab pos="316865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well-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architected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documentation,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logging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monitoring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important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across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facets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one’s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system.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sorts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logging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should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doing,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challenges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providing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infrastructure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for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this?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4/5 AWS.pptx</dc:title>
  <dcterms:created xsi:type="dcterms:W3CDTF">2026-01-31T14:34:57Z</dcterms:created>
  <dcterms:modified xsi:type="dcterms:W3CDTF">2026-01-31T14:34:57Z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2026-01-31T00:00:00Z</vt:filetime>
  </property>
</Properties>
</file>